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2DE0"/>
    <a:srgbClr val="8B50E9"/>
    <a:srgbClr val="C285FF"/>
    <a:srgbClr val="A7A7A7"/>
    <a:srgbClr val="FFFFFF"/>
    <a:srgbClr val="E84F51"/>
    <a:srgbClr val="F7C2C2"/>
    <a:srgbClr val="5197DA"/>
    <a:srgbClr val="7CC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95" dt="2026-09-23T16:15:46.849"/>
    <p1510:client id="{E05B24F9-E86B-7AF3-ED56-4ADC04EDB51D}" v="970" dt="2026-09-23T14:24:20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5903" y="3399769"/>
            <a:ext cx="10640754" cy="775845"/>
          </a:xfrm>
        </p:spPr>
        <p:txBody>
          <a:bodyPr anchor="b">
            <a:normAutofit/>
          </a:bodyPr>
          <a:lstStyle/>
          <a:p>
            <a:r>
              <a:rPr lang="fr-FR" sz="4000">
                <a:solidFill>
                  <a:schemeClr val="tx2"/>
                </a:solidFill>
              </a:rPr>
              <a:t>Caching and typed interfaces in Flyte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14121" y="4171528"/>
            <a:ext cx="9163757" cy="450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000">
                <a:solidFill>
                  <a:schemeClr val="tx2"/>
                </a:solidFill>
              </a:rPr>
              <a:t>Sebastian Morsch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C1623BF0-12F7-4DD8-06D2-635ACDBD5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201" y="320231"/>
            <a:ext cx="6200145" cy="283656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Sous-titre 2">
            <a:extLst>
              <a:ext uri="{FF2B5EF4-FFF2-40B4-BE49-F238E27FC236}">
                <a16:creationId xmlns:a16="http://schemas.microsoft.com/office/drawing/2014/main" id="{929A3438-A43C-0F3C-C31D-BE33AC127E23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9353F16-B81E-F583-BB12-5D3533E11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28" name="Picture 27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3BB9872F-CA1A-BE06-A350-9B4441354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A635-D775-A4E5-16A4-0A0532989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>
                <a:latin typeface="+mj-lt"/>
                <a:ea typeface="+mj-ea"/>
                <a:cs typeface="+mj-cs"/>
              </a:rPr>
              <a:t>What is Flyte and what </a:t>
            </a:r>
            <a:r>
              <a:rPr lang="en-US" sz="3200" b="1"/>
              <a:t>problems</a:t>
            </a:r>
            <a:r>
              <a:rPr lang="en-US" sz="3200" b="1" kern="1200">
                <a:latin typeface="+mj-lt"/>
                <a:ea typeface="+mj-ea"/>
                <a:cs typeface="+mj-cs"/>
              </a:rPr>
              <a:t> does it solve ? </a:t>
            </a:r>
            <a:endParaRPr lang="en-US" sz="3200" b="1" kern="120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A560C-F852-E36B-6B3C-E5281012378F}"/>
              </a:ext>
            </a:extLst>
          </p:cNvPr>
          <p:cNvSpPr txBox="1"/>
          <p:nvPr/>
        </p:nvSpPr>
        <p:spPr>
          <a:xfrm>
            <a:off x="844677" y="2533476"/>
            <a:ext cx="5248761" cy="344783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i="1">
                <a:solidFill>
                  <a:srgbClr val="8B50E9"/>
                </a:solidFill>
              </a:rPr>
              <a:t>Open-source, Kubernetes-native </a:t>
            </a:r>
            <a:br>
              <a:rPr lang="en-US" sz="2000" i="1">
                <a:solidFill>
                  <a:srgbClr val="8B50E9"/>
                </a:solidFill>
              </a:rPr>
            </a:br>
            <a:r>
              <a:rPr lang="en-US" sz="2000" i="1">
                <a:solidFill>
                  <a:srgbClr val="8B50E9"/>
                </a:solidFill>
              </a:rPr>
              <a:t>orchestrator for data </a:t>
            </a:r>
            <a:br>
              <a:rPr lang="en-US" sz="2000" i="1"/>
            </a:br>
            <a:r>
              <a:rPr lang="en-US" sz="2000" i="1">
                <a:solidFill>
                  <a:srgbClr val="8B50E9"/>
                </a:solidFill>
              </a:rPr>
              <a:t>and ML pipelines</a:t>
            </a:r>
            <a:endParaRPr lang="en-US" sz="2000">
              <a:solidFill>
                <a:srgbClr val="8B50E9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BF1E897-491D-3DA3-76BD-EAB3B200A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917559"/>
              </p:ext>
            </p:extLst>
          </p:nvPr>
        </p:nvGraphicFramePr>
        <p:xfrm>
          <a:off x="4987672" y="1407069"/>
          <a:ext cx="6389346" cy="405317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72708">
                  <a:extLst>
                    <a:ext uri="{9D8B030D-6E8A-4147-A177-3AD203B41FA5}">
                      <a16:colId xmlns:a16="http://schemas.microsoft.com/office/drawing/2014/main" val="316786224"/>
                    </a:ext>
                  </a:extLst>
                </a:gridCol>
                <a:gridCol w="4516638">
                  <a:extLst>
                    <a:ext uri="{9D8B030D-6E8A-4147-A177-3AD203B41FA5}">
                      <a16:colId xmlns:a16="http://schemas.microsoft.com/office/drawing/2014/main" val="3685383894"/>
                    </a:ext>
                  </a:extLst>
                </a:gridCol>
              </a:tblGrid>
              <a:tr h="562087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 marL="0" marR="131739" marT="26348" marB="1317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How Flyte solves it </a:t>
                      </a:r>
                    </a:p>
                  </a:txBody>
                  <a:tcPr marL="0" marR="131739" marT="26348" marB="1317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347094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Reproducibility</a:t>
                      </a:r>
                      <a:endParaRPr lang="en-US" sz="17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Every task and run is versioned, with inputs and outputs recorded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922469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Heterogeneous resources</a:t>
                      </a:r>
                      <a:endParaRPr lang="en-US" sz="17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Each step gets its own CPU, GPU and memory on Kubernetes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908830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1" i="0" u="none" strike="noStrike" cap="none" spc="0" noProof="0">
                          <a:solidFill>
                            <a:srgbClr val="8B50E9"/>
                          </a:solidFill>
                          <a:latin typeface="Aptos"/>
                        </a:rPr>
                        <a:t>Fragility</a:t>
                      </a:r>
                      <a:endParaRPr lang="en-US" sz="1700" b="1" cap="none" spc="0">
                        <a:solidFill>
                          <a:srgbClr val="8B50E9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rgbClr val="8B50E9"/>
                          </a:solidFill>
                          <a:latin typeface="Aptos"/>
                        </a:rPr>
                        <a:t>Caching</a:t>
                      </a: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</a:t>
                      </a: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</a:rPr>
                        <a:t>unchanged steps are reused, reruns only redo what failed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689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1" i="0" u="none" strike="noStrike" cap="none" spc="0" noProof="0">
                          <a:solidFill>
                            <a:srgbClr val="8B50E9"/>
                          </a:solidFill>
                          <a:latin typeface="Aptos"/>
                        </a:rPr>
                        <a:t>Collaboration</a:t>
                      </a:r>
                      <a:endParaRPr lang="en-US" sz="1700" b="1" cap="none" spc="0">
                        <a:solidFill>
                          <a:srgbClr val="8B50E9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rgbClr val="8B50E9"/>
                          </a:solidFill>
                          <a:latin typeface="Aptos"/>
                        </a:rPr>
                        <a:t>Strongly typed</a:t>
                      </a: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</a:t>
                      </a: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</a:rPr>
                        <a:t>inputs and outputs checked before anything runs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631165"/>
                  </a:ext>
                </a:extLst>
              </a:tr>
              <a:tr h="4874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Operational glue</a:t>
                      </a:r>
                      <a:endParaRPr lang="en-US" sz="17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Built-in scheduling, logging and lineage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1739" marT="39522" marB="1317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930797"/>
                  </a:ext>
                </a:extLst>
              </a:tr>
            </a:tbl>
          </a:graphicData>
        </a:graphic>
      </p:graphicFrame>
      <p:sp>
        <p:nvSpPr>
          <p:cNvPr id="12" name="Sous-titre 2">
            <a:extLst>
              <a:ext uri="{FF2B5EF4-FFF2-40B4-BE49-F238E27FC236}">
                <a16:creationId xmlns:a16="http://schemas.microsoft.com/office/drawing/2014/main" id="{465C8E34-A9F0-1174-6E75-8BE517307E6D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1D8374-05B0-E2E5-DF56-F5ECC82775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14" name="Picture 13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4681F5CA-AB31-0B9C-B859-A0CC6F2F6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8801DD-71A6-B044-A1C6-2A874FBA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995" y="1508125"/>
            <a:ext cx="6978650" cy="383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699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E960-7824-9ED5-38C5-84C56A76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The problem: re-running work you have already done</a:t>
            </a:r>
            <a:endParaRPr lang="en-US" b="1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B3E72072-896D-1624-C05F-961D03116A1F}"/>
              </a:ext>
            </a:extLst>
          </p:cNvPr>
          <p:cNvSpPr/>
          <p:nvPr/>
        </p:nvSpPr>
        <p:spPr>
          <a:xfrm>
            <a:off x="2505675" y="1908431"/>
            <a:ext cx="1812324" cy="113270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B45A8BD4-87EC-D18B-295D-B946086AA9B8}"/>
              </a:ext>
            </a:extLst>
          </p:cNvPr>
          <p:cNvSpPr/>
          <p:nvPr/>
        </p:nvSpPr>
        <p:spPr>
          <a:xfrm>
            <a:off x="5025080" y="1908431"/>
            <a:ext cx="1812324" cy="113270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A3D937AD-5659-8F38-C804-B3DFA1647433}"/>
              </a:ext>
            </a:extLst>
          </p:cNvPr>
          <p:cNvSpPr/>
          <p:nvPr/>
        </p:nvSpPr>
        <p:spPr>
          <a:xfrm>
            <a:off x="7558215" y="1908431"/>
            <a:ext cx="1812324" cy="113270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221CA99D-0341-79BA-C2D3-61653BA7F893}"/>
              </a:ext>
            </a:extLst>
          </p:cNvPr>
          <p:cNvSpPr/>
          <p:nvPr/>
        </p:nvSpPr>
        <p:spPr>
          <a:xfrm>
            <a:off x="2505675" y="3453025"/>
            <a:ext cx="1812324" cy="1132703"/>
          </a:xfrm>
          <a:prstGeom prst="roundRect">
            <a:avLst/>
          </a:prstGeom>
          <a:solidFill>
            <a:srgbClr val="E84F51">
              <a:alpha val="35000"/>
            </a:srgbClr>
          </a:solidFill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07CF8DC7-3910-4070-61FA-63D8C866E1F4}"/>
              </a:ext>
            </a:extLst>
          </p:cNvPr>
          <p:cNvSpPr/>
          <p:nvPr/>
        </p:nvSpPr>
        <p:spPr>
          <a:xfrm>
            <a:off x="5025080" y="3453025"/>
            <a:ext cx="1812324" cy="1132703"/>
          </a:xfrm>
          <a:prstGeom prst="roundRect">
            <a:avLst/>
          </a:prstGeom>
          <a:solidFill>
            <a:srgbClr val="F7C2C2"/>
          </a:solidFill>
          <a:ln w="28575">
            <a:solidFill>
              <a:srgbClr val="E84F5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605B442D-C4B1-4779-C109-B8AB355CBA09}"/>
              </a:ext>
            </a:extLst>
          </p:cNvPr>
          <p:cNvSpPr/>
          <p:nvPr/>
        </p:nvSpPr>
        <p:spPr>
          <a:xfrm>
            <a:off x="7558215" y="3453025"/>
            <a:ext cx="1812324" cy="113270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46013A4D-D65A-974B-D077-7B8E55330CBA}"/>
              </a:ext>
            </a:extLst>
          </p:cNvPr>
          <p:cNvSpPr/>
          <p:nvPr/>
        </p:nvSpPr>
        <p:spPr>
          <a:xfrm>
            <a:off x="2505674" y="4867187"/>
            <a:ext cx="1812324" cy="113270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A7A7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C483F919-89C2-9FF0-DB7C-47DB4DE0B856}"/>
              </a:ext>
            </a:extLst>
          </p:cNvPr>
          <p:cNvSpPr/>
          <p:nvPr/>
        </p:nvSpPr>
        <p:spPr>
          <a:xfrm>
            <a:off x="5025079" y="4867187"/>
            <a:ext cx="1812324" cy="113270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A7A7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20CD891-2839-B1C6-1B78-0F924A356342}"/>
              </a:ext>
            </a:extLst>
          </p:cNvPr>
          <p:cNvSpPr txBox="1"/>
          <p:nvPr/>
        </p:nvSpPr>
        <p:spPr>
          <a:xfrm>
            <a:off x="837512" y="2148703"/>
            <a:ext cx="15514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Run 1</a:t>
            </a:r>
          </a:p>
          <a:p>
            <a:r>
              <a:rPr lang="en-US">
                <a:solidFill>
                  <a:schemeClr val="bg1">
                    <a:lumMod val="49000"/>
                  </a:schemeClr>
                </a:solidFill>
              </a:rPr>
              <a:t>First build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5C0CF3E-EC22-5FE9-4217-EB7A262AFFA4}"/>
              </a:ext>
            </a:extLst>
          </p:cNvPr>
          <p:cNvCxnSpPr/>
          <p:nvPr/>
        </p:nvCxnSpPr>
        <p:spPr>
          <a:xfrm>
            <a:off x="322648" y="3171566"/>
            <a:ext cx="11553568" cy="68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9" name="Graphic 198">
            <a:extLst>
              <a:ext uri="{FF2B5EF4-FFF2-40B4-BE49-F238E27FC236}">
                <a16:creationId xmlns:a16="http://schemas.microsoft.com/office/drawing/2014/main" id="{76D8F519-124E-B64B-5B6A-515C4658A6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26260" y="1969530"/>
            <a:ext cx="564292" cy="564292"/>
          </a:xfrm>
          <a:prstGeom prst="rect">
            <a:avLst/>
          </a:prstGeom>
        </p:spPr>
      </p:pic>
      <p:pic>
        <p:nvPicPr>
          <p:cNvPr id="200" name="Graphic 199">
            <a:extLst>
              <a:ext uri="{FF2B5EF4-FFF2-40B4-BE49-F238E27FC236}">
                <a16:creationId xmlns:a16="http://schemas.microsoft.com/office/drawing/2014/main" id="{3CE7F97B-249E-3FE5-7408-91DAA18908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2530" y="1969530"/>
            <a:ext cx="564292" cy="564292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785E10C0-EF47-FBA5-8C6A-A86AAB8B2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8800" y="1969530"/>
            <a:ext cx="564292" cy="564292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335CC411-CEAC-CEFE-3FAD-BFC1C6E7C2D2}"/>
              </a:ext>
            </a:extLst>
          </p:cNvPr>
          <p:cNvSpPr txBox="1"/>
          <p:nvPr/>
        </p:nvSpPr>
        <p:spPr>
          <a:xfrm>
            <a:off x="3130377" y="2471351"/>
            <a:ext cx="5697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500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5590709-0FF2-3F53-60EF-93477F437C60}"/>
              </a:ext>
            </a:extLst>
          </p:cNvPr>
          <p:cNvSpPr txBox="1"/>
          <p:nvPr/>
        </p:nvSpPr>
        <p:spPr>
          <a:xfrm>
            <a:off x="5478160" y="2471351"/>
            <a:ext cx="9130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Panda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988E1CE-2911-E9B0-43BE-93188B9B5755}"/>
              </a:ext>
            </a:extLst>
          </p:cNvPr>
          <p:cNvSpPr txBox="1"/>
          <p:nvPr/>
        </p:nvSpPr>
        <p:spPr>
          <a:xfrm>
            <a:off x="8052485" y="2471350"/>
            <a:ext cx="8237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Punto</a:t>
            </a:r>
          </a:p>
        </p:txBody>
      </p:sp>
      <p:pic>
        <p:nvPicPr>
          <p:cNvPr id="205" name="Graphic 204">
            <a:extLst>
              <a:ext uri="{FF2B5EF4-FFF2-40B4-BE49-F238E27FC236}">
                <a16:creationId xmlns:a16="http://schemas.microsoft.com/office/drawing/2014/main" id="{B3C14DA5-8068-5370-B682-D75FCB063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6260" y="3534719"/>
            <a:ext cx="564292" cy="564292"/>
          </a:xfrm>
          <a:prstGeom prst="rect">
            <a:avLst/>
          </a:prstGeom>
        </p:spPr>
      </p:pic>
      <p:pic>
        <p:nvPicPr>
          <p:cNvPr id="206" name="Graphic 205">
            <a:extLst>
              <a:ext uri="{FF2B5EF4-FFF2-40B4-BE49-F238E27FC236}">
                <a16:creationId xmlns:a16="http://schemas.microsoft.com/office/drawing/2014/main" id="{FE682499-1E38-6E3B-5540-842CBD105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5665" y="3534719"/>
            <a:ext cx="564292" cy="564292"/>
          </a:xfrm>
          <a:prstGeom prst="rect">
            <a:avLst/>
          </a:prstGeom>
        </p:spPr>
      </p:pic>
      <p:pic>
        <p:nvPicPr>
          <p:cNvPr id="207" name="Graphic 206">
            <a:extLst>
              <a:ext uri="{FF2B5EF4-FFF2-40B4-BE49-F238E27FC236}">
                <a16:creationId xmlns:a16="http://schemas.microsoft.com/office/drawing/2014/main" id="{3BF62354-2BAF-4191-51E5-180A03C7D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8800" y="3534719"/>
            <a:ext cx="564292" cy="564292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B0AEBCE1-D71C-0998-7ABF-1319FFFEA584}"/>
              </a:ext>
            </a:extLst>
          </p:cNvPr>
          <p:cNvSpPr txBox="1"/>
          <p:nvPr/>
        </p:nvSpPr>
        <p:spPr>
          <a:xfrm>
            <a:off x="3130377" y="4015945"/>
            <a:ext cx="5697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F6824D5-3061-AC67-6847-9DAADA1329B8}"/>
              </a:ext>
            </a:extLst>
          </p:cNvPr>
          <p:cNvSpPr txBox="1"/>
          <p:nvPr/>
        </p:nvSpPr>
        <p:spPr>
          <a:xfrm>
            <a:off x="5505620" y="4015946"/>
            <a:ext cx="8581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0000"/>
                </a:solidFill>
              </a:rPr>
              <a:t>Panda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7498CF3-D1C1-9F34-5839-7CCB43865835}"/>
              </a:ext>
            </a:extLst>
          </p:cNvPr>
          <p:cNvSpPr txBox="1"/>
          <p:nvPr/>
        </p:nvSpPr>
        <p:spPr>
          <a:xfrm>
            <a:off x="8176053" y="4015944"/>
            <a:ext cx="8237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Uno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A3410E4D-625C-4761-8D5F-E4D161A39666}"/>
              </a:ext>
            </a:extLst>
          </p:cNvPr>
          <p:cNvSpPr/>
          <p:nvPr/>
        </p:nvSpPr>
        <p:spPr>
          <a:xfrm>
            <a:off x="7558215" y="4867187"/>
            <a:ext cx="1812324" cy="113270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3" name="Graphic 212">
            <a:extLst>
              <a:ext uri="{FF2B5EF4-FFF2-40B4-BE49-F238E27FC236}">
                <a16:creationId xmlns:a16="http://schemas.microsoft.com/office/drawing/2014/main" id="{48401397-02B9-4D68-8AB4-37AECB5363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2530" y="4928286"/>
            <a:ext cx="564292" cy="564292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69B8C219-D653-8A4D-9815-6804CA1AC69B}"/>
              </a:ext>
            </a:extLst>
          </p:cNvPr>
          <p:cNvSpPr txBox="1"/>
          <p:nvPr/>
        </p:nvSpPr>
        <p:spPr>
          <a:xfrm>
            <a:off x="8189783" y="5416376"/>
            <a:ext cx="8237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Uno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0699AD0-C9BF-6E1E-A5A5-614DFCD3FA33}"/>
              </a:ext>
            </a:extLst>
          </p:cNvPr>
          <p:cNvSpPr txBox="1"/>
          <p:nvPr/>
        </p:nvSpPr>
        <p:spPr>
          <a:xfrm>
            <a:off x="837512" y="3693298"/>
            <a:ext cx="1551459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No cache</a:t>
            </a:r>
            <a:endParaRPr lang="en-US"/>
          </a:p>
          <a:p>
            <a:r>
              <a:rPr lang="en-US" sz="1600">
                <a:solidFill>
                  <a:schemeClr val="bg1">
                    <a:lumMod val="65000"/>
                  </a:schemeClr>
                </a:solidFill>
              </a:rPr>
              <a:t>naive rerun</a:t>
            </a: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72480FD-5CCA-AEAD-C470-E2F982D56E7C}"/>
              </a:ext>
            </a:extLst>
          </p:cNvPr>
          <p:cNvSpPr txBox="1"/>
          <p:nvPr/>
        </p:nvSpPr>
        <p:spPr>
          <a:xfrm>
            <a:off x="837512" y="5093730"/>
            <a:ext cx="1551459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Flyte cache</a:t>
            </a:r>
            <a:endParaRPr lang="en-US"/>
          </a:p>
          <a:p>
            <a:r>
              <a:rPr lang="en-US" sz="1600">
                <a:solidFill>
                  <a:schemeClr val="bg1">
                    <a:lumMod val="65000"/>
                  </a:schemeClr>
                </a:solidFill>
              </a:rPr>
              <a:t>cache="auto"</a:t>
            </a:r>
          </a:p>
        </p:txBody>
      </p:sp>
      <p:pic>
        <p:nvPicPr>
          <p:cNvPr id="217" name="Graphic 216">
            <a:extLst>
              <a:ext uri="{FF2B5EF4-FFF2-40B4-BE49-F238E27FC236}">
                <a16:creationId xmlns:a16="http://schemas.microsoft.com/office/drawing/2014/main" id="{5F8471EA-53B7-233E-5949-2739EABB7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6260" y="4928287"/>
            <a:ext cx="564292" cy="564292"/>
          </a:xfrm>
          <a:prstGeom prst="rect">
            <a:avLst/>
          </a:prstGeom>
        </p:spPr>
      </p:pic>
      <p:pic>
        <p:nvPicPr>
          <p:cNvPr id="218" name="Graphic 217">
            <a:extLst>
              <a:ext uri="{FF2B5EF4-FFF2-40B4-BE49-F238E27FC236}">
                <a16:creationId xmlns:a16="http://schemas.microsoft.com/office/drawing/2014/main" id="{E880E59E-7CA0-66D3-6374-457377B51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2530" y="4928287"/>
            <a:ext cx="564292" cy="564292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DEF5260E-F74B-0726-5B03-2C10EC36D5F0}"/>
              </a:ext>
            </a:extLst>
          </p:cNvPr>
          <p:cNvSpPr txBox="1"/>
          <p:nvPr/>
        </p:nvSpPr>
        <p:spPr>
          <a:xfrm>
            <a:off x="3130377" y="5402648"/>
            <a:ext cx="5697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>
                    <a:lumMod val="49000"/>
                  </a:schemeClr>
                </a:solidFill>
              </a:rPr>
              <a:t>500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778F185E-7A20-5DE5-C1EC-A8C85EAEE86A}"/>
              </a:ext>
            </a:extLst>
          </p:cNvPr>
          <p:cNvSpPr txBox="1"/>
          <p:nvPr/>
        </p:nvSpPr>
        <p:spPr>
          <a:xfrm>
            <a:off x="5505619" y="5402648"/>
            <a:ext cx="9130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>
                    <a:lumMod val="49000"/>
                  </a:schemeClr>
                </a:solidFill>
              </a:rPr>
              <a:t>Panda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90FAF69A-44CD-CF7E-A8DC-B14829988918}"/>
              </a:ext>
            </a:extLst>
          </p:cNvPr>
          <p:cNvSpPr txBox="1"/>
          <p:nvPr/>
        </p:nvSpPr>
        <p:spPr>
          <a:xfrm>
            <a:off x="3130378" y="2732216"/>
            <a:ext cx="569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</a:rPr>
              <a:t>built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D3716E-0BF3-A4AF-88D2-E3C1A87BB2AF}"/>
              </a:ext>
            </a:extLst>
          </p:cNvPr>
          <p:cNvSpPr txBox="1"/>
          <p:nvPr/>
        </p:nvSpPr>
        <p:spPr>
          <a:xfrm>
            <a:off x="5649783" y="2732216"/>
            <a:ext cx="569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</a:rPr>
              <a:t>built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477E633-A25C-5254-88AC-42FA12817C46}"/>
              </a:ext>
            </a:extLst>
          </p:cNvPr>
          <p:cNvSpPr txBox="1"/>
          <p:nvPr/>
        </p:nvSpPr>
        <p:spPr>
          <a:xfrm>
            <a:off x="8189783" y="2732216"/>
            <a:ext cx="569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</a:rPr>
              <a:t>built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93F62CB4-ADDC-ECF9-BD1A-23F580C89C03}"/>
              </a:ext>
            </a:extLst>
          </p:cNvPr>
          <p:cNvSpPr txBox="1"/>
          <p:nvPr/>
        </p:nvSpPr>
        <p:spPr>
          <a:xfrm>
            <a:off x="8189783" y="4276810"/>
            <a:ext cx="569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</a:rPr>
              <a:t>built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B41B03E-6B40-3839-DA5B-75A2127A69BD}"/>
              </a:ext>
            </a:extLst>
          </p:cNvPr>
          <p:cNvSpPr txBox="1"/>
          <p:nvPr/>
        </p:nvSpPr>
        <p:spPr>
          <a:xfrm>
            <a:off x="8189783" y="5690972"/>
            <a:ext cx="569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</a:rPr>
              <a:t>built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7D93087-BFB2-A7EB-AAE7-21D2B9689EE7}"/>
              </a:ext>
            </a:extLst>
          </p:cNvPr>
          <p:cNvSpPr txBox="1"/>
          <p:nvPr/>
        </p:nvSpPr>
        <p:spPr>
          <a:xfrm>
            <a:off x="2677297" y="4276810"/>
            <a:ext cx="14759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rebuilt for nothing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E9D01B5-F361-244D-6845-F49C22031089}"/>
              </a:ext>
            </a:extLst>
          </p:cNvPr>
          <p:cNvSpPr txBox="1"/>
          <p:nvPr/>
        </p:nvSpPr>
        <p:spPr>
          <a:xfrm>
            <a:off x="5224162" y="4297404"/>
            <a:ext cx="14759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rebuilt for nothing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4473D01-6C55-977C-921C-00192E76D1D8}"/>
              </a:ext>
            </a:extLst>
          </p:cNvPr>
          <p:cNvSpPr txBox="1"/>
          <p:nvPr/>
        </p:nvSpPr>
        <p:spPr>
          <a:xfrm>
            <a:off x="2677297" y="5649783"/>
            <a:ext cx="14759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>
                    <a:lumMod val="49000"/>
                  </a:schemeClr>
                </a:solidFill>
              </a:rPr>
              <a:t>reused from cache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17191B9-117B-683C-E469-70259810915C}"/>
              </a:ext>
            </a:extLst>
          </p:cNvPr>
          <p:cNvSpPr txBox="1"/>
          <p:nvPr/>
        </p:nvSpPr>
        <p:spPr>
          <a:xfrm>
            <a:off x="5196702" y="5690972"/>
            <a:ext cx="14759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>
                    <a:lumMod val="49000"/>
                  </a:schemeClr>
                </a:solidFill>
              </a:rPr>
              <a:t>reused from cache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F82578FE-74F5-B6AE-0EA1-434872B46A10}"/>
              </a:ext>
            </a:extLst>
          </p:cNvPr>
          <p:cNvSpPr/>
          <p:nvPr/>
        </p:nvSpPr>
        <p:spPr>
          <a:xfrm>
            <a:off x="9885405" y="2313458"/>
            <a:ext cx="1990810" cy="15789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3F80E6E8-1F9B-0400-9A8C-5271CA1ABC8F}"/>
              </a:ext>
            </a:extLst>
          </p:cNvPr>
          <p:cNvSpPr/>
          <p:nvPr/>
        </p:nvSpPr>
        <p:spPr>
          <a:xfrm>
            <a:off x="9885405" y="3940431"/>
            <a:ext cx="1990810" cy="1578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E134D24F-EAB5-B875-DC08-5A1FDBB325A6}"/>
              </a:ext>
            </a:extLst>
          </p:cNvPr>
          <p:cNvSpPr/>
          <p:nvPr/>
        </p:nvSpPr>
        <p:spPr>
          <a:xfrm>
            <a:off x="9885405" y="5354593"/>
            <a:ext cx="1990810" cy="1578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7A0019C5-3EDB-DF77-2425-257733BC87DB}"/>
              </a:ext>
            </a:extLst>
          </p:cNvPr>
          <p:cNvSpPr/>
          <p:nvPr/>
        </p:nvSpPr>
        <p:spPr>
          <a:xfrm>
            <a:off x="9885405" y="5340863"/>
            <a:ext cx="686486" cy="192217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4EBA6FF-73F7-DE6A-A46D-EEC4F66EA3A9}"/>
              </a:ext>
            </a:extLst>
          </p:cNvPr>
          <p:cNvSpPr txBox="1"/>
          <p:nvPr/>
        </p:nvSpPr>
        <p:spPr>
          <a:xfrm>
            <a:off x="9883245" y="1536002"/>
            <a:ext cx="14707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>
                    <a:lumMod val="49000"/>
                  </a:schemeClr>
                </a:solidFill>
              </a:rPr>
              <a:t>Build time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CE27988B-AD96-2BF7-D93E-BCEF772F2852}"/>
              </a:ext>
            </a:extLst>
          </p:cNvPr>
          <p:cNvSpPr txBox="1"/>
          <p:nvPr/>
        </p:nvSpPr>
        <p:spPr>
          <a:xfrm>
            <a:off x="9884589" y="2473752"/>
            <a:ext cx="5638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6 s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6C0C2D2-AA1B-6BE7-1662-545152060F36}"/>
              </a:ext>
            </a:extLst>
          </p:cNvPr>
          <p:cNvSpPr txBox="1"/>
          <p:nvPr/>
        </p:nvSpPr>
        <p:spPr>
          <a:xfrm>
            <a:off x="9884589" y="4100725"/>
            <a:ext cx="5638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6 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23AE70D-5830-D85B-86A5-C024D52D6F30}"/>
              </a:ext>
            </a:extLst>
          </p:cNvPr>
          <p:cNvSpPr txBox="1"/>
          <p:nvPr/>
        </p:nvSpPr>
        <p:spPr>
          <a:xfrm>
            <a:off x="9884589" y="5535481"/>
            <a:ext cx="5638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 s</a:t>
            </a:r>
          </a:p>
        </p:txBody>
      </p:sp>
      <p:sp>
        <p:nvSpPr>
          <p:cNvPr id="239" name="Sous-titre 2">
            <a:extLst>
              <a:ext uri="{FF2B5EF4-FFF2-40B4-BE49-F238E27FC236}">
                <a16:creationId xmlns:a16="http://schemas.microsoft.com/office/drawing/2014/main" id="{D1BE01DF-F773-BA5F-B872-F0EABC5F8997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241" name="Picture 240">
            <a:extLst>
              <a:ext uri="{FF2B5EF4-FFF2-40B4-BE49-F238E27FC236}">
                <a16:creationId xmlns:a16="http://schemas.microsoft.com/office/drawing/2014/main" id="{CEEB8C58-834C-8188-C860-5484D04C23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243" name="Picture 242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9090B3DB-244F-DCDD-2452-663283950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  <p:sp>
        <p:nvSpPr>
          <p:cNvPr id="244" name="TextBox 243">
            <a:extLst>
              <a:ext uri="{FF2B5EF4-FFF2-40B4-BE49-F238E27FC236}">
                <a16:creationId xmlns:a16="http://schemas.microsoft.com/office/drawing/2014/main" id="{B8A3FAE6-2914-69B0-13A3-5FDF358259BD}"/>
              </a:ext>
            </a:extLst>
          </p:cNvPr>
          <p:cNvSpPr txBox="1"/>
          <p:nvPr/>
        </p:nvSpPr>
        <p:spPr>
          <a:xfrm>
            <a:off x="835353" y="3135515"/>
            <a:ext cx="34821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</a:rPr>
              <a:t>Run 2: swap Punto for Uno </a:t>
            </a:r>
          </a:p>
        </p:txBody>
      </p:sp>
    </p:spTree>
    <p:extLst>
      <p:ext uri="{BB962C8B-B14F-4D97-AF65-F5344CB8AC3E}">
        <p14:creationId xmlns:p14="http://schemas.microsoft.com/office/powerpoint/2010/main" val="96100705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B5ED-7F61-102A-F024-569ADFD8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40CCBE-AEB5-24D0-765C-79F6574E5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6850" y="2439087"/>
            <a:ext cx="1966372" cy="1966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0F54AC-BDB5-68A9-7249-B0D0C7FE9F33}"/>
              </a:ext>
            </a:extLst>
          </p:cNvPr>
          <p:cNvSpPr txBox="1"/>
          <p:nvPr/>
        </p:nvSpPr>
        <p:spPr>
          <a:xfrm>
            <a:off x="3418378" y="3825239"/>
            <a:ext cx="66640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 err="1">
                <a:latin typeface="Miriam Fixed"/>
                <a:cs typeface="Miriam Fixed"/>
              </a:rPr>
              <a:t>Car_factory</a:t>
            </a:r>
            <a:endParaRPr lang="en-US" sz="3200" b="1">
              <a:latin typeface="Miriam Fixed"/>
              <a:cs typeface="Miriam Fixed"/>
            </a:endParaRP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45F707B2-97C2-90C7-3E74-DD22F8686609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DE783-CA91-897F-C2C7-4CB4F89DF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12" name="Picture 11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3C6E15AD-10FC-A60D-5D6D-690B3E388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BFD9-1E32-6296-CA1E-105E22F1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the cache keys 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3185B7-5274-8EA8-2948-53D8D8A92988}"/>
              </a:ext>
            </a:extLst>
          </p:cNvPr>
          <p:cNvSpPr/>
          <p:nvPr/>
        </p:nvSpPr>
        <p:spPr>
          <a:xfrm>
            <a:off x="365760" y="1806282"/>
            <a:ext cx="5462784" cy="7081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dirty="0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49A262-3A0B-29BD-E3DD-529A7A10D438}"/>
              </a:ext>
            </a:extLst>
          </p:cNvPr>
          <p:cNvSpPr/>
          <p:nvPr/>
        </p:nvSpPr>
        <p:spPr>
          <a:xfrm>
            <a:off x="355599" y="2741001"/>
            <a:ext cx="5462784" cy="7081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22378-D7AD-4F4A-8754-4441C3F8ADAB}"/>
              </a:ext>
            </a:extLst>
          </p:cNvPr>
          <p:cNvSpPr/>
          <p:nvPr/>
        </p:nvSpPr>
        <p:spPr>
          <a:xfrm>
            <a:off x="355599" y="3594441"/>
            <a:ext cx="5462784" cy="7081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74F1A9-9F68-FCF9-7D18-6494A513B5F8}"/>
              </a:ext>
            </a:extLst>
          </p:cNvPr>
          <p:cNvSpPr/>
          <p:nvPr/>
        </p:nvSpPr>
        <p:spPr>
          <a:xfrm>
            <a:off x="355599" y="4447881"/>
            <a:ext cx="5462784" cy="708179"/>
          </a:xfrm>
          <a:prstGeom prst="roundRect">
            <a:avLst/>
          </a:prstGeom>
          <a:solidFill>
            <a:srgbClr val="C285FF">
              <a:alpha val="39000"/>
            </a:srgbClr>
          </a:solidFill>
          <a:ln>
            <a:solidFill>
              <a:srgbClr val="8B5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97D8F-0228-3B7D-205A-3E22BEB045FF}"/>
              </a:ext>
            </a:extLst>
          </p:cNvPr>
          <p:cNvSpPr txBox="1"/>
          <p:nvPr/>
        </p:nvSpPr>
        <p:spPr>
          <a:xfrm>
            <a:off x="449511" y="1896350"/>
            <a:ext cx="247135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Task name</a:t>
            </a:r>
          </a:p>
          <a:p>
            <a:r>
              <a:rPr lang="en-US" sz="1600" dirty="0" err="1">
                <a:solidFill>
                  <a:schemeClr val="bg1">
                    <a:lumMod val="49000"/>
                  </a:schemeClr>
                </a:solidFill>
                <a:latin typeface="Miriam Fixed"/>
                <a:cs typeface="Miriam Fixed"/>
              </a:rPr>
              <a:t>car_factory.build</a:t>
            </a:r>
            <a:endParaRPr lang="en-US" sz="1600">
              <a:solidFill>
                <a:schemeClr val="bg1">
                  <a:lumMod val="49000"/>
                </a:schemeClr>
              </a:solidFill>
              <a:latin typeface="Miriam Fixed"/>
              <a:cs typeface="Miriam Fixe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5A456-2F58-5D8C-B972-AB60509C00F8}"/>
              </a:ext>
            </a:extLst>
          </p:cNvPr>
          <p:cNvSpPr txBox="1"/>
          <p:nvPr/>
        </p:nvSpPr>
        <p:spPr>
          <a:xfrm>
            <a:off x="449511" y="2790429"/>
            <a:ext cx="544823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Interface</a:t>
            </a:r>
            <a:endParaRPr lang="en-US" dirty="0"/>
          </a:p>
          <a:p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Miriam Fixed"/>
                <a:cs typeface="Miriam Fixed"/>
              </a:rPr>
              <a:t>(model: str, make: str, year: int) -&gt; Car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5A128-50AB-7387-23B8-DB683A42210B}"/>
              </a:ext>
            </a:extLst>
          </p:cNvPr>
          <p:cNvSpPr txBox="1"/>
          <p:nvPr/>
        </p:nvSpPr>
        <p:spPr>
          <a:xfrm>
            <a:off x="449511" y="3593069"/>
            <a:ext cx="566159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Cache version</a:t>
            </a:r>
            <a:endParaRPr lang="en-US" dirty="0"/>
          </a:p>
          <a:p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Miriam Fixed"/>
                <a:cs typeface="Miriam Fixed"/>
              </a:rPr>
              <a:t>cache="auto": hash of the function body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1813F-0505-35D6-C26D-5B43BF6308C6}"/>
              </a:ext>
            </a:extLst>
          </p:cNvPr>
          <p:cNvSpPr txBox="1"/>
          <p:nvPr/>
        </p:nvSpPr>
        <p:spPr>
          <a:xfrm>
            <a:off x="449511" y="4497309"/>
            <a:ext cx="578351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8B50E9"/>
                </a:solidFill>
              </a:rPr>
              <a:t>Inputs</a:t>
            </a:r>
            <a:endParaRPr lang="en-US">
              <a:solidFill>
                <a:srgbClr val="8B50E9"/>
              </a:solidFill>
            </a:endParaRPr>
          </a:p>
          <a:p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Miriam Fixed"/>
                <a:cs typeface="Miriam Fixed"/>
              </a:rPr>
              <a:t>model="Uno", make="Fiat", year=2020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522E31-EC64-EA21-AC68-D8865B5AADC2}"/>
              </a:ext>
            </a:extLst>
          </p:cNvPr>
          <p:cNvSpPr/>
          <p:nvPr/>
        </p:nvSpPr>
        <p:spPr>
          <a:xfrm>
            <a:off x="6917037" y="2803885"/>
            <a:ext cx="2176162" cy="12905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Cache key</a:t>
            </a:r>
          </a:p>
          <a:p>
            <a:pPr algn="ctr"/>
            <a:r>
              <a:rPr lang="en-US" sz="1200" b="1" dirty="0">
                <a:solidFill>
                  <a:schemeClr val="bg1">
                    <a:lumMod val="49000"/>
                  </a:schemeClr>
                </a:solidFill>
              </a:rPr>
              <a:t>One hash of all four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A17D256-5449-ED27-DE32-AC355DF5B9AE}"/>
              </a:ext>
            </a:extLst>
          </p:cNvPr>
          <p:cNvCxnSpPr/>
          <p:nvPr/>
        </p:nvCxnSpPr>
        <p:spPr>
          <a:xfrm>
            <a:off x="5842000" y="2148702"/>
            <a:ext cx="878702" cy="1297459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2063E6B-A5CC-9EC3-15D4-645DA880BB97}"/>
              </a:ext>
            </a:extLst>
          </p:cNvPr>
          <p:cNvCxnSpPr/>
          <p:nvPr/>
        </p:nvCxnSpPr>
        <p:spPr>
          <a:xfrm>
            <a:off x="5821405" y="3082324"/>
            <a:ext cx="899297" cy="356972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A9910DB-C93A-5F90-6AD4-7E2E29373305}"/>
              </a:ext>
            </a:extLst>
          </p:cNvPr>
          <p:cNvCxnSpPr/>
          <p:nvPr/>
        </p:nvCxnSpPr>
        <p:spPr>
          <a:xfrm flipV="1">
            <a:off x="5814540" y="3439297"/>
            <a:ext cx="906162" cy="494270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5917BAAA-D355-B271-C671-8AB7DC1B66C8}"/>
              </a:ext>
            </a:extLst>
          </p:cNvPr>
          <p:cNvCxnSpPr/>
          <p:nvPr/>
        </p:nvCxnSpPr>
        <p:spPr>
          <a:xfrm flipV="1">
            <a:off x="5814540" y="3439297"/>
            <a:ext cx="878702" cy="1379837"/>
          </a:xfrm>
          <a:prstGeom prst="curvedConnector3">
            <a:avLst/>
          </a:prstGeom>
          <a:ln>
            <a:solidFill>
              <a:srgbClr val="8B5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EA42262-98AD-8CB1-AC59-15502A247440}"/>
              </a:ext>
            </a:extLst>
          </p:cNvPr>
          <p:cNvSpPr/>
          <p:nvPr/>
        </p:nvSpPr>
        <p:spPr>
          <a:xfrm>
            <a:off x="6579561" y="3269872"/>
            <a:ext cx="341870" cy="30425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6A806E-DCF6-8652-B9E9-431FFBFF4AC9}"/>
              </a:ext>
            </a:extLst>
          </p:cNvPr>
          <p:cNvSpPr/>
          <p:nvPr/>
        </p:nvSpPr>
        <p:spPr>
          <a:xfrm>
            <a:off x="9794240" y="2304121"/>
            <a:ext cx="2038864" cy="7081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bg1">
                    <a:lumMod val="49000"/>
                  </a:schemeClr>
                </a:solidFill>
              </a:rPr>
              <a:t>Key found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  <a:p>
            <a:r>
              <a:rPr lang="en-US" sz="1100" dirty="0">
                <a:solidFill>
                  <a:schemeClr val="bg1">
                    <a:lumMod val="49000"/>
                  </a:schemeClr>
                </a:solidFill>
              </a:rPr>
              <a:t>Reuse the stored output</a:t>
            </a:r>
          </a:p>
          <a:p>
            <a:r>
              <a:rPr lang="en-US" sz="1100" dirty="0">
                <a:solidFill>
                  <a:schemeClr val="bg1">
                    <a:lumMod val="49000"/>
                  </a:schemeClr>
                </a:solidFill>
              </a:rPr>
              <a:t>Uno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4889F7-B6DC-4F87-BA34-A35DDB29F1A9}"/>
              </a:ext>
            </a:extLst>
          </p:cNvPr>
          <p:cNvSpPr/>
          <p:nvPr/>
        </p:nvSpPr>
        <p:spPr>
          <a:xfrm>
            <a:off x="9794238" y="3929720"/>
            <a:ext cx="2038864" cy="708179"/>
          </a:xfrm>
          <a:prstGeom prst="roundRect">
            <a:avLst/>
          </a:prstGeom>
          <a:solidFill>
            <a:srgbClr val="8B50E9"/>
          </a:solidFill>
          <a:ln>
            <a:solidFill>
              <a:srgbClr val="8B5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/>
              <a:t>New key</a:t>
            </a:r>
            <a:endParaRPr lang="en-US" sz="1600"/>
          </a:p>
          <a:p>
            <a:r>
              <a:rPr lang="en-US" sz="1100" dirty="0"/>
              <a:t>Run the task, store the result</a:t>
            </a:r>
          </a:p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Uno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A3ED5D32-C80E-D97C-8EC7-3BC137634716}"/>
              </a:ext>
            </a:extLst>
          </p:cNvPr>
          <p:cNvCxnSpPr/>
          <p:nvPr/>
        </p:nvCxnSpPr>
        <p:spPr>
          <a:xfrm flipV="1">
            <a:off x="9097465" y="2640824"/>
            <a:ext cx="692198" cy="779450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DC75D05B-06F4-4282-7FF7-C8C5A59237F7}"/>
              </a:ext>
            </a:extLst>
          </p:cNvPr>
          <p:cNvCxnSpPr/>
          <p:nvPr/>
        </p:nvCxnSpPr>
        <p:spPr>
          <a:xfrm>
            <a:off x="9109099" y="3408641"/>
            <a:ext cx="674748" cy="884152"/>
          </a:xfrm>
          <a:prstGeom prst="curvedConnector3">
            <a:avLst/>
          </a:prstGeom>
          <a:ln>
            <a:solidFill>
              <a:srgbClr val="8B50E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CD4756-BBC2-6032-AF4C-BDD8F4C0F807}"/>
              </a:ext>
            </a:extLst>
          </p:cNvPr>
          <p:cNvSpPr txBox="1"/>
          <p:nvPr/>
        </p:nvSpPr>
        <p:spPr>
          <a:xfrm>
            <a:off x="361339" y="5444285"/>
            <a:ext cx="7086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Change any of the four</a:t>
            </a:r>
            <a:r>
              <a:rPr lang="en-US" dirty="0"/>
              <a:t> and you get a new key, so the task runs again.</a:t>
            </a:r>
          </a:p>
        </p:txBody>
      </p:sp>
      <p:sp>
        <p:nvSpPr>
          <p:cNvPr id="28" name="Sous-titre 2">
            <a:extLst>
              <a:ext uri="{FF2B5EF4-FFF2-40B4-BE49-F238E27FC236}">
                <a16:creationId xmlns:a16="http://schemas.microsoft.com/office/drawing/2014/main" id="{49DF0850-3D04-729D-D3B6-8BD771E02D0E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48C1487-3F15-E3EE-8F85-711031A4B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32" name="Picture 31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49375081-2B42-BC3F-0102-F35F13007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4752505-3A8B-8A1B-348B-1DEC2C96C7A8}"/>
              </a:ext>
            </a:extLst>
          </p:cNvPr>
          <p:cNvSpPr/>
          <p:nvPr/>
        </p:nvSpPr>
        <p:spPr>
          <a:xfrm>
            <a:off x="4937757" y="4539319"/>
            <a:ext cx="779024" cy="190019"/>
          </a:xfrm>
          <a:prstGeom prst="roundRect">
            <a:avLst/>
          </a:prstGeom>
          <a:solidFill>
            <a:srgbClr val="8B50E9"/>
          </a:solidFill>
          <a:ln>
            <a:solidFill>
              <a:srgbClr val="8B5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700" b="1" dirty="0"/>
              <a:t>Punto --&gt; Uno</a:t>
            </a:r>
          </a:p>
        </p:txBody>
      </p:sp>
    </p:spTree>
    <p:extLst>
      <p:ext uri="{BB962C8B-B14F-4D97-AF65-F5344CB8AC3E}">
        <p14:creationId xmlns:p14="http://schemas.microsoft.com/office/powerpoint/2010/main" val="249748596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3AC3E-F754-438B-E203-EFA02A99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Who shares the cache 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9FB18A-6F80-27D2-18F8-C0961BAFC532}"/>
              </a:ext>
            </a:extLst>
          </p:cNvPr>
          <p:cNvSpPr/>
          <p:nvPr/>
        </p:nvSpPr>
        <p:spPr>
          <a:xfrm>
            <a:off x="2769835" y="3594991"/>
            <a:ext cx="3366804" cy="134606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Miss</a:t>
            </a:r>
          </a:p>
          <a:p>
            <a:pPr algn="ctr"/>
            <a:r>
              <a:rPr lang="en-US" sz="1400" dirty="0"/>
              <a:t>built again</a:t>
            </a:r>
          </a:p>
          <a:p>
            <a:pPr algn="ctr"/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User B's laptop with --local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2E2A0EF-4880-CA3A-E67B-99D118487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2740" y="3706890"/>
            <a:ext cx="564292" cy="564292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16D79B-D0E1-0556-F289-49D669525D26}"/>
              </a:ext>
            </a:extLst>
          </p:cNvPr>
          <p:cNvSpPr/>
          <p:nvPr/>
        </p:nvSpPr>
        <p:spPr>
          <a:xfrm>
            <a:off x="6772875" y="3594991"/>
            <a:ext cx="3366804" cy="134606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Miss</a:t>
            </a:r>
          </a:p>
          <a:p>
            <a:pPr algn="ctr"/>
            <a:r>
              <a:rPr lang="en-US" sz="1400" dirty="0"/>
              <a:t>built again</a:t>
            </a:r>
          </a:p>
          <a:p>
            <a:pPr algn="ctr"/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new store, nothing to reuse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A56A00C-5A9D-BD3A-476C-783A7289E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5780" y="3696730"/>
            <a:ext cx="564292" cy="564292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B66C8A-3F70-7349-87EE-506A1B6C1353}"/>
              </a:ext>
            </a:extLst>
          </p:cNvPr>
          <p:cNvSpPr/>
          <p:nvPr/>
        </p:nvSpPr>
        <p:spPr>
          <a:xfrm>
            <a:off x="2769835" y="2010031"/>
            <a:ext cx="3366804" cy="13460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</a:rPr>
              <a:t>Hit</a:t>
            </a:r>
            <a:endParaRPr lang="en-US" dirty="0"/>
          </a:p>
          <a:p>
            <a:pPr algn="ctr"/>
            <a:r>
              <a:rPr lang="en-US" sz="1400" dirty="0">
                <a:solidFill>
                  <a:schemeClr val="bg1">
                    <a:lumMod val="49000"/>
                  </a:schemeClr>
                </a:solidFill>
              </a:rPr>
              <a:t>reused from cache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rerunning it unchanged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11B664-3A38-0AE1-CE57-01EE2B1740AA}"/>
              </a:ext>
            </a:extLst>
          </p:cNvPr>
          <p:cNvSpPr/>
          <p:nvPr/>
        </p:nvSpPr>
        <p:spPr>
          <a:xfrm>
            <a:off x="6772875" y="2010031"/>
            <a:ext cx="3366804" cy="13460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</a:rPr>
              <a:t>Hit</a:t>
            </a:r>
          </a:p>
          <a:p>
            <a:pPr algn="ctr"/>
            <a:r>
              <a:rPr lang="en-US" sz="1400" dirty="0">
                <a:solidFill>
                  <a:schemeClr val="bg1">
                    <a:lumMod val="49000"/>
                  </a:schemeClr>
                </a:solidFill>
              </a:rPr>
              <a:t>reused from cache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Fleet reuses the 500 and Panda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576B584-E15A-B7B5-7C18-601C00AFA2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5780" y="2060970"/>
            <a:ext cx="564292" cy="56429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A76882F-CDED-E5F2-0BB2-E732EB555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740" y="2060970"/>
            <a:ext cx="564292" cy="5642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9C53E9B-DAF7-B1C1-8F51-B30B0949C4CF}"/>
              </a:ext>
            </a:extLst>
          </p:cNvPr>
          <p:cNvSpPr txBox="1"/>
          <p:nvPr/>
        </p:nvSpPr>
        <p:spPr>
          <a:xfrm>
            <a:off x="2947702" y="1368994"/>
            <a:ext cx="30029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Same pipeline</a:t>
            </a:r>
          </a:p>
          <a:p>
            <a:pPr algn="ctr"/>
            <a:r>
              <a:rPr lang="en-US" dirty="0" err="1">
                <a:solidFill>
                  <a:schemeClr val="bg1">
                    <a:lumMod val="49000"/>
                  </a:schemeClr>
                </a:solidFill>
                <a:latin typeface="Miriam Fixed"/>
                <a:cs typeface="Miriam Fixed"/>
              </a:rPr>
              <a:t>car_factory_workflow</a:t>
            </a:r>
            <a:endParaRPr lang="en-US">
              <a:solidFill>
                <a:schemeClr val="bg1">
                  <a:lumMod val="49000"/>
                </a:schemeClr>
              </a:solidFill>
              <a:latin typeface="Miriam Fixed"/>
              <a:cs typeface="Miriam Fixe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5D9C1-996C-9EA6-CFA2-929C00C82A00}"/>
              </a:ext>
            </a:extLst>
          </p:cNvPr>
          <p:cNvSpPr txBox="1"/>
          <p:nvPr/>
        </p:nvSpPr>
        <p:spPr>
          <a:xfrm>
            <a:off x="6950742" y="1368993"/>
            <a:ext cx="30029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Other pipeline</a:t>
            </a:r>
          </a:p>
          <a:p>
            <a:pPr algn="ctr"/>
            <a:r>
              <a:rPr lang="en-US" dirty="0" err="1">
                <a:solidFill>
                  <a:schemeClr val="bg1">
                    <a:lumMod val="49000"/>
                  </a:schemeClr>
                </a:solidFill>
                <a:latin typeface="Miriam Fixed"/>
                <a:cs typeface="Miriam Fixed"/>
              </a:rPr>
              <a:t>fleet_worflow</a:t>
            </a:r>
            <a:endParaRPr lang="en-US" dirty="0" err="1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30F56D-F34E-9370-91F2-DF43B2118B50}"/>
              </a:ext>
            </a:extLst>
          </p:cNvPr>
          <p:cNvSpPr txBox="1"/>
          <p:nvPr/>
        </p:nvSpPr>
        <p:spPr>
          <a:xfrm>
            <a:off x="82582" y="2344353"/>
            <a:ext cx="260669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Same cache store </a:t>
            </a:r>
          </a:p>
          <a:p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Same laptop, or same project + domain on a cluster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BF5414-6BD2-C776-CD80-9650CF4D6F6B}"/>
              </a:ext>
            </a:extLst>
          </p:cNvPr>
          <p:cNvSpPr txBox="1"/>
          <p:nvPr/>
        </p:nvSpPr>
        <p:spPr>
          <a:xfrm>
            <a:off x="82582" y="3980113"/>
            <a:ext cx="260669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Different cache store</a:t>
            </a:r>
            <a:endParaRPr lang="en-US" dirty="0"/>
          </a:p>
          <a:p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Another laptop, or project or domain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6286B1-105D-BEF0-D99D-E1364B4022A0}"/>
              </a:ext>
            </a:extLst>
          </p:cNvPr>
          <p:cNvSpPr txBox="1"/>
          <p:nvPr/>
        </p:nvSpPr>
        <p:spPr>
          <a:xfrm>
            <a:off x="170115" y="5079999"/>
            <a:ext cx="97853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The pipeline doesn't matter. </a:t>
            </a:r>
            <a:r>
              <a:rPr lang="en-US" dirty="0"/>
              <a:t>The cache store does.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Same task means same name, types and code: a copied and edited build() gets a new key.</a:t>
            </a:r>
          </a:p>
        </p:txBody>
      </p:sp>
      <p:sp>
        <p:nvSpPr>
          <p:cNvPr id="26" name="Sous-titre 2">
            <a:extLst>
              <a:ext uri="{FF2B5EF4-FFF2-40B4-BE49-F238E27FC236}">
                <a16:creationId xmlns:a16="http://schemas.microsoft.com/office/drawing/2014/main" id="{884A6894-CF0E-6144-B604-7864324693AB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C958EC1-077A-8046-E79A-B017BA3F2F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30" name="Picture 29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8603B0FE-2079-FC89-EC02-D65843583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4288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7210-EED0-1F2A-1433-556B0634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the cache 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023CA-8CB8-DDC5-4EB8-3283FFDF51A5}"/>
              </a:ext>
            </a:extLst>
          </p:cNvPr>
          <p:cNvSpPr txBox="1"/>
          <p:nvPr/>
        </p:nvSpPr>
        <p:spPr>
          <a:xfrm>
            <a:off x="853700" y="1712090"/>
            <a:ext cx="44873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The cache lies</a:t>
            </a:r>
          </a:p>
          <a:p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Behavior changed, the function body didn't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80B922-EBB3-0CC9-12D7-E29D5B057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69547"/>
              </p:ext>
            </p:extLst>
          </p:nvPr>
        </p:nvGraphicFramePr>
        <p:xfrm>
          <a:off x="853440" y="2449576"/>
          <a:ext cx="10567550" cy="21478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3775">
                  <a:extLst>
                    <a:ext uri="{9D8B030D-6E8A-4147-A177-3AD203B41FA5}">
                      <a16:colId xmlns:a16="http://schemas.microsoft.com/office/drawing/2014/main" val="2195760392"/>
                    </a:ext>
                  </a:extLst>
                </a:gridCol>
                <a:gridCol w="5283775">
                  <a:extLst>
                    <a:ext uri="{9D8B030D-6E8A-4147-A177-3AD203B41FA5}">
                      <a16:colId xmlns:a16="http://schemas.microsoft.com/office/drawing/2014/main" val="2687188809"/>
                    </a:ext>
                  </a:extLst>
                </a:gridCol>
              </a:tblGrid>
              <a:tr h="7159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You edited a helper function</a:t>
                      </a:r>
                    </a:p>
                    <a:p>
                      <a:pPr lvl="0">
                        <a:buNone/>
                      </a:pPr>
                      <a:r>
                        <a:rPr lang="en-US" b="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Miriam Fixed"/>
                          <a:cs typeface="Miriam Fixed"/>
                        </a:rPr>
                        <a:t>def paint(): return "blue"</a:t>
                      </a:r>
                      <a:endParaRPr lang="en-US" b="1" dirty="0"/>
                    </a:p>
                  </a:txBody>
                  <a:tcPr>
                    <a:lnL w="76200">
                      <a:solidFill>
                        <a:srgbClr val="FFC000"/>
                      </a:solidFill>
                    </a:lnL>
                    <a:lnR w="76200">
                      <a:solidFill>
                        <a:srgbClr val="FF0000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You added a log line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Miriam Fixed"/>
                          <a:cs typeface="Miriam Fixed"/>
                        </a:rPr>
                        <a:t>print("building", model)</a:t>
                      </a:r>
                      <a:endParaRPr lang="en-US" dirty="0"/>
                    </a:p>
                  </a:txBody>
                  <a:tcPr>
                    <a:lnL w="76200">
                      <a:solidFill>
                        <a:srgbClr val="FF0000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25403986"/>
                  </a:ext>
                </a:extLst>
              </a:tr>
              <a:tr h="715936">
                <a:tc>
                  <a:txBody>
                    <a:bodyPr/>
                    <a:lstStyle/>
                    <a:p>
                      <a:r>
                        <a:rPr lang="en-US" b="1" dirty="0"/>
                        <a:t>You upgraded a library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Miriam Fixed"/>
                          <a:cs typeface="Miriam Fixed"/>
                        </a:rPr>
                        <a:t>pandas 2.2 -&gt; 3.0</a:t>
                      </a:r>
                      <a:endParaRPr lang="en-US" dirty="0"/>
                    </a:p>
                  </a:txBody>
                  <a:tcPr>
                    <a:lnL w="76200">
                      <a:solidFill>
                        <a:srgbClr val="FFC000"/>
                      </a:solidFill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You renamed a variable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Miriam Fixed"/>
                          <a:cs typeface="Miriam Fixed"/>
                        </a:rPr>
                        <a:t>m -&gt; model</a:t>
                      </a:r>
                      <a:endParaRPr lang="en-US" dirty="0"/>
                    </a:p>
                  </a:txBody>
                  <a:tcPr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34864372"/>
                  </a:ext>
                </a:extLst>
              </a:tr>
              <a:tr h="715936">
                <a:tc>
                  <a:txBody>
                    <a:bodyPr/>
                    <a:lstStyle/>
                    <a:p>
                      <a:r>
                        <a:rPr lang="en-US" b="1" dirty="0"/>
                        <a:t>The task reads external data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Miriam Fixed"/>
                          <a:cs typeface="Miriam Fixed"/>
                        </a:rPr>
                        <a:t>Open("prices.csv")</a:t>
                      </a:r>
                      <a:endParaRPr lang="en-US" dirty="0"/>
                    </a:p>
                  </a:txBody>
                  <a:tcPr>
                    <a:lnL w="76200">
                      <a:solidFill>
                        <a:srgbClr val="FFC000"/>
                      </a:solidFill>
                    </a:lnL>
                    <a:lnR w="76200">
                      <a:solidFill>
                        <a:srgbClr val="FF0000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You reformatted the file</a:t>
                      </a:r>
                      <a:br>
                        <a:rPr lang="en-US" b="1" dirty="0"/>
                      </a:br>
                      <a:r>
                        <a:rPr lang="en-US" sz="1800" b="0" i="0" u="none" strike="noStrike" noProof="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Miriam Fixed"/>
                          <a:cs typeface="Miriam Fixed"/>
                        </a:rPr>
                        <a:t>black_car_factory.py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Miriam Fixed"/>
                        <a:cs typeface="Miriam Fixed"/>
                      </a:endParaRPr>
                    </a:p>
                  </a:txBody>
                  <a:tcPr>
                    <a:lnL w="76200">
                      <a:solidFill>
                        <a:srgbClr val="FF0000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20217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805E12E-9AA7-0303-C266-4A82C3AD8F22}"/>
              </a:ext>
            </a:extLst>
          </p:cNvPr>
          <p:cNvSpPr txBox="1"/>
          <p:nvPr/>
        </p:nvSpPr>
        <p:spPr>
          <a:xfrm>
            <a:off x="6096259" y="1712090"/>
            <a:ext cx="44873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The cache is too eager</a:t>
            </a:r>
          </a:p>
          <a:p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The function body changed, behavior didn't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674AAC-7B9F-1783-8117-8F0CE4BDE4DD}"/>
              </a:ext>
            </a:extLst>
          </p:cNvPr>
          <p:cNvSpPr/>
          <p:nvPr/>
        </p:nvSpPr>
        <p:spPr>
          <a:xfrm>
            <a:off x="838199" y="4818944"/>
            <a:ext cx="10415411" cy="1055793"/>
          </a:xfrm>
          <a:prstGeom prst="roundRect">
            <a:avLst/>
          </a:prstGeom>
          <a:solidFill>
            <a:srgbClr val="8B5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Fix: pin the version yourself</a:t>
            </a:r>
          </a:p>
          <a:p>
            <a:r>
              <a:rPr lang="en-US" dirty="0">
                <a:latin typeface="Miriam Fixed"/>
                <a:cs typeface="Miriam Fixed"/>
              </a:rPr>
              <a:t>cache=</a:t>
            </a:r>
            <a:r>
              <a:rPr lang="en-US" dirty="0" err="1">
                <a:latin typeface="Miriam Fixed"/>
                <a:cs typeface="Miriam Fixed"/>
              </a:rPr>
              <a:t>flyte.Cache</a:t>
            </a:r>
            <a:r>
              <a:rPr lang="en-US" dirty="0">
                <a:latin typeface="Miriam Fixed"/>
                <a:cs typeface="Miriam Fixed"/>
              </a:rPr>
              <a:t>(behavior="override", </a:t>
            </a:r>
            <a:r>
              <a:rPr lang="en-US" dirty="0" err="1">
                <a:latin typeface="Miriam Fixed"/>
                <a:cs typeface="Miriam Fixed"/>
              </a:rPr>
              <a:t>version_override</a:t>
            </a:r>
            <a:r>
              <a:rPr lang="en-US" dirty="0">
                <a:latin typeface="Miriam Fixed"/>
                <a:cs typeface="Miriam Fixed"/>
              </a:rPr>
              <a:t>="v2")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We bump it when the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ouput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should change. It makes it readable, reviewable for the team.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A1F5D950-455B-A62E-961C-2AAFD71A1BBA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063E8B-FFA1-665E-8303-BA591BE4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14" name="Picture 13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16C31BBF-98DC-62E2-BE36-E14691FC1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1630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0B9F-FC2D-DC86-3A98-E8FBD8B6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Typed interfaces : what a type hint becomes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1E155-70C8-3121-1BF4-E62C9DF8DD52}"/>
              </a:ext>
            </a:extLst>
          </p:cNvPr>
          <p:cNvSpPr txBox="1"/>
          <p:nvPr/>
        </p:nvSpPr>
        <p:spPr>
          <a:xfrm>
            <a:off x="953392" y="2651485"/>
            <a:ext cx="716774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B3AE60"/>
                </a:solidFill>
                <a:highlight>
                  <a:srgbClr val="191A1C"/>
                </a:highlight>
                <a:latin typeface="Consolas"/>
              </a:rPr>
              <a:t>@env.task</a:t>
            </a:r>
            <a:br>
              <a:rPr lang="en-US" dirty="0">
                <a:solidFill>
                  <a:srgbClr val="B3AE60"/>
                </a:solidFill>
                <a:highlight>
                  <a:srgbClr val="191A1C"/>
                </a:highlight>
                <a:latin typeface="Consolas"/>
              </a:rPr>
            </a:br>
            <a:r>
              <a:rPr lang="en-US" dirty="0">
                <a:solidFill>
                  <a:srgbClr val="B3AE60"/>
                </a:solidFill>
                <a:highlight>
                  <a:srgbClr val="191A1C"/>
                </a:highlight>
                <a:latin typeface="Consolas"/>
              </a:rPr>
              <a:t>def </a:t>
            </a:r>
            <a:r>
              <a:rPr lang="en-US" dirty="0">
                <a:solidFill>
                  <a:srgbClr val="56A8F5"/>
                </a:solidFill>
                <a:highlight>
                  <a:srgbClr val="191A1C"/>
                </a:highlight>
                <a:latin typeface="Consolas"/>
              </a:rPr>
              <a:t>build</a:t>
            </a:r>
            <a:r>
              <a:rPr lang="en-US" dirty="0">
                <a:solidFill>
                  <a:srgbClr val="BCBEC4"/>
                </a:solidFill>
                <a:highlight>
                  <a:srgbClr val="191A1C"/>
                </a:highlight>
                <a:latin typeface="Consolas"/>
              </a:rPr>
              <a:t>(model: str, make: str, year: int) -&gt; Car:</a:t>
            </a:r>
            <a:endParaRPr lang="en-US" dirty="0"/>
          </a:p>
          <a:p>
            <a:endParaRPr lang="en-US" dirty="0">
              <a:solidFill>
                <a:srgbClr val="BCBEC4"/>
              </a:solidFill>
              <a:highlight>
                <a:srgbClr val="191A1C"/>
              </a:highlight>
              <a:latin typeface="Consolas"/>
            </a:endParaRPr>
          </a:p>
          <a:p>
            <a:endParaRPr lang="en-US" dirty="0">
              <a:solidFill>
                <a:srgbClr val="BCBEC4"/>
              </a:solidFill>
              <a:highlight>
                <a:srgbClr val="191A1C"/>
              </a:highlight>
              <a:latin typeface="Consolas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CF0CC-18CF-21A5-CC89-733EE2F3C31A}"/>
              </a:ext>
            </a:extLst>
          </p:cNvPr>
          <p:cNvSpPr txBox="1"/>
          <p:nvPr/>
        </p:nvSpPr>
        <p:spPr>
          <a:xfrm>
            <a:off x="1304324" y="3376689"/>
            <a:ext cx="108074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signature becomes the task's interface: </a:t>
            </a:r>
            <a:r>
              <a:rPr lang="en-US" dirty="0">
                <a:ea typeface="+mn-lt"/>
                <a:cs typeface="+mn-lt"/>
              </a:rPr>
              <a:t>{model: STRING, make: STRING, year: INTEGER} → Car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Every value passed becomes a literal. 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09191438-EB62-77F0-A88D-2D81AAF57709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60B2A4-F34B-6D3C-50C4-D416BDA99B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14" name="Picture 13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DF4A0B6B-2C13-A8F7-599C-5D04B7BF3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7553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9341-2A83-17A9-128A-C7CBB71DD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Typed interfaces : </a:t>
            </a:r>
            <a:r>
              <a:rPr lang="en-US" b="1" dirty="0">
                <a:ea typeface="+mj-lt"/>
                <a:cs typeface="+mj-lt"/>
              </a:rPr>
              <a:t>Three checkpoints</a:t>
            </a:r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483CAA-A434-19DC-263B-70D747B8C108}"/>
              </a:ext>
            </a:extLst>
          </p:cNvPr>
          <p:cNvSpPr/>
          <p:nvPr/>
        </p:nvSpPr>
        <p:spPr>
          <a:xfrm>
            <a:off x="279812" y="2537802"/>
            <a:ext cx="2290668" cy="116702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flyte</a:t>
            </a:r>
            <a:r>
              <a:rPr lang="en-US" b="1" dirty="0">
                <a:solidFill>
                  <a:schemeClr val="tx1"/>
                </a:solidFill>
              </a:rPr>
              <a:t> run</a:t>
            </a:r>
          </a:p>
          <a:p>
            <a:pPr algn="ctr"/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CLI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91FC6C-F78E-5939-99D6-930AE600406F}"/>
              </a:ext>
            </a:extLst>
          </p:cNvPr>
          <p:cNvSpPr/>
          <p:nvPr/>
        </p:nvSpPr>
        <p:spPr>
          <a:xfrm>
            <a:off x="3216051" y="2537801"/>
            <a:ext cx="2395288" cy="116702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worflow</a:t>
            </a:r>
            <a:endParaRPr lang="en-US" dirty="0" err="1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bg1">
                    <a:lumMod val="49000"/>
                  </a:schemeClr>
                </a:solidFill>
              </a:rPr>
              <a:t>car_factor_workflow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B95D1C-8C15-6198-30A0-2CFFE7A0FB2D}"/>
              </a:ext>
            </a:extLst>
          </p:cNvPr>
          <p:cNvSpPr/>
          <p:nvPr/>
        </p:nvSpPr>
        <p:spPr>
          <a:xfrm>
            <a:off x="6252793" y="2537801"/>
            <a:ext cx="2395288" cy="1167027"/>
          </a:xfrm>
          <a:prstGeom prst="roundRect">
            <a:avLst/>
          </a:prstGeom>
          <a:solidFill>
            <a:srgbClr val="872DE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build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Spends the compute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C47A32-1166-ED16-8C79-9527F6099F96}"/>
              </a:ext>
            </a:extLst>
          </p:cNvPr>
          <p:cNvSpPr/>
          <p:nvPr/>
        </p:nvSpPr>
        <p:spPr>
          <a:xfrm>
            <a:off x="9581977" y="2537801"/>
            <a:ext cx="2517208" cy="116702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describe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(car: Car)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95165-9763-8299-3B51-DD1B6A7A6DC7}"/>
              </a:ext>
            </a:extLst>
          </p:cNvPr>
          <p:cNvSpPr txBox="1"/>
          <p:nvPr/>
        </p:nvSpPr>
        <p:spPr>
          <a:xfrm>
            <a:off x="536832" y="1574525"/>
            <a:ext cx="716774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B3AE60"/>
                </a:solidFill>
                <a:highlight>
                  <a:srgbClr val="191A1C"/>
                </a:highlight>
                <a:latin typeface="Consolas"/>
              </a:rPr>
              <a:t>@env.task</a:t>
            </a:r>
            <a:br>
              <a:rPr lang="en-US" dirty="0">
                <a:solidFill>
                  <a:srgbClr val="B3AE60"/>
                </a:solidFill>
                <a:highlight>
                  <a:srgbClr val="191A1C"/>
                </a:highlight>
                <a:latin typeface="Consolas"/>
              </a:rPr>
            </a:br>
            <a:r>
              <a:rPr lang="en-US" dirty="0">
                <a:solidFill>
                  <a:srgbClr val="B3AE60"/>
                </a:solidFill>
                <a:highlight>
                  <a:srgbClr val="191A1C"/>
                </a:highlight>
                <a:latin typeface="Consolas"/>
              </a:rPr>
              <a:t>def </a:t>
            </a:r>
            <a:r>
              <a:rPr lang="en-US" dirty="0">
                <a:solidFill>
                  <a:srgbClr val="56A8F5"/>
                </a:solidFill>
                <a:highlight>
                  <a:srgbClr val="191A1C"/>
                </a:highlight>
                <a:latin typeface="Consolas"/>
              </a:rPr>
              <a:t>build</a:t>
            </a:r>
            <a:r>
              <a:rPr lang="en-US" dirty="0">
                <a:solidFill>
                  <a:srgbClr val="BCBEC4"/>
                </a:solidFill>
                <a:highlight>
                  <a:srgbClr val="191A1C"/>
                </a:highlight>
                <a:latin typeface="Consolas"/>
              </a:rPr>
              <a:t>(model: str, make: str, year: int) -&gt; Car:</a:t>
            </a:r>
            <a:endParaRPr lang="en-US" dirty="0"/>
          </a:p>
          <a:p>
            <a:endParaRPr lang="en-US" dirty="0">
              <a:solidFill>
                <a:srgbClr val="BCBEC4"/>
              </a:solidFill>
              <a:highlight>
                <a:srgbClr val="191A1C"/>
              </a:highlight>
              <a:latin typeface="Consolas"/>
            </a:endParaRPr>
          </a:p>
          <a:p>
            <a:endParaRPr lang="en-US" dirty="0">
              <a:solidFill>
                <a:srgbClr val="BCBEC4"/>
              </a:solidFill>
              <a:highlight>
                <a:srgbClr val="191A1C"/>
              </a:highlight>
              <a:latin typeface="Consolas"/>
            </a:endParaRPr>
          </a:p>
          <a:p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B8108E-8F8A-96C5-2179-791EF8E01042}"/>
              </a:ext>
            </a:extLst>
          </p:cNvPr>
          <p:cNvCxnSpPr/>
          <p:nvPr/>
        </p:nvCxnSpPr>
        <p:spPr>
          <a:xfrm flipV="1">
            <a:off x="2567460" y="3089189"/>
            <a:ext cx="645297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1AEE43-557D-06E9-E5C9-EB21F82A3751}"/>
              </a:ext>
            </a:extLst>
          </p:cNvPr>
          <p:cNvSpPr/>
          <p:nvPr/>
        </p:nvSpPr>
        <p:spPr>
          <a:xfrm>
            <a:off x="1412514" y="4247154"/>
            <a:ext cx="2963425" cy="1482810"/>
          </a:xfrm>
          <a:prstGeom prst="roundRect">
            <a:avLst/>
          </a:prstGeom>
          <a:solidFill>
            <a:srgbClr val="872DE0">
              <a:alpha val="26000"/>
            </a:srgbClr>
          </a:solidFill>
          <a:ln>
            <a:solidFill>
              <a:srgbClr val="8B5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rgbClr val="8B50E9"/>
                </a:solidFill>
              </a:rPr>
              <a:t>At submission</a:t>
            </a:r>
            <a:endParaRPr lang="en-US" dirty="0">
              <a:solidFill>
                <a:srgbClr val="8B50E9"/>
              </a:solidFill>
            </a:endParaRPr>
          </a:p>
          <a:p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fails here : </a:t>
            </a:r>
            <a:br>
              <a:rPr lang="en-US" dirty="0">
                <a:solidFill>
                  <a:schemeClr val="bg1">
                    <a:lumMod val="49000"/>
                  </a:schemeClr>
                </a:solidFill>
              </a:rPr>
            </a:br>
            <a:r>
              <a:rPr lang="en-US" dirty="0">
                <a:solidFill>
                  <a:schemeClr val="tx1"/>
                </a:solidFill>
                <a:latin typeface="Miriam Fixed"/>
                <a:cs typeface="Miriam Fixed"/>
              </a:rPr>
              <a:t>--year "deux-</a:t>
            </a:r>
            <a:r>
              <a:rPr lang="en-US" dirty="0" err="1">
                <a:solidFill>
                  <a:schemeClr val="tx1"/>
                </a:solidFill>
                <a:latin typeface="Miriam Fixed"/>
                <a:cs typeface="Miriam Fixed"/>
              </a:rPr>
              <a:t>mille</a:t>
            </a:r>
            <a:r>
              <a:rPr lang="en-US" dirty="0">
                <a:solidFill>
                  <a:schemeClr val="tx1"/>
                </a:solidFill>
                <a:latin typeface="Miriam Fixed"/>
                <a:cs typeface="Miriam Fixed"/>
              </a:rPr>
              <a:t>"</a:t>
            </a:r>
          </a:p>
          <a:p>
            <a:r>
              <a:rPr lang="en-US" sz="1600" b="1" dirty="0">
                <a:solidFill>
                  <a:schemeClr val="bg1">
                    <a:lumMod val="49000"/>
                  </a:schemeClr>
                </a:solidFill>
              </a:rPr>
              <a:t>nothing is submitted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F9A35B-D218-F7CF-5731-924CF40799A5}"/>
              </a:ext>
            </a:extLst>
          </p:cNvPr>
          <p:cNvSpPr/>
          <p:nvPr/>
        </p:nvSpPr>
        <p:spPr>
          <a:xfrm>
            <a:off x="4549758" y="4247154"/>
            <a:ext cx="3093856" cy="1482810"/>
          </a:xfrm>
          <a:prstGeom prst="roundRect">
            <a:avLst/>
          </a:prstGeom>
          <a:solidFill>
            <a:srgbClr val="872DE0">
              <a:alpha val="26000"/>
            </a:srgbClr>
          </a:solidFill>
          <a:ln>
            <a:solidFill>
              <a:srgbClr val="8B5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rgbClr val="8B50E9"/>
                </a:solidFill>
              </a:rPr>
              <a:t>Info a task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fails here : </a:t>
            </a:r>
            <a:br>
              <a:rPr lang="en-US" dirty="0">
                <a:solidFill>
                  <a:schemeClr val="bg1">
                    <a:lumMod val="49000"/>
                  </a:schemeClr>
                </a:solidFill>
              </a:rPr>
            </a:br>
            <a:r>
              <a:rPr lang="en-US" dirty="0">
                <a:solidFill>
                  <a:schemeClr val="tx1"/>
                </a:solidFill>
                <a:latin typeface="Miriam Fixed"/>
                <a:cs typeface="Miriam Fixed"/>
              </a:rPr>
              <a:t>build(m,make,"2020")​</a:t>
            </a:r>
          </a:p>
          <a:p>
            <a:r>
              <a:rPr lang="en-US" sz="1600" b="1" dirty="0">
                <a:solidFill>
                  <a:schemeClr val="bg1">
                    <a:lumMod val="49000"/>
                  </a:schemeClr>
                </a:solidFill>
              </a:rPr>
              <a:t>Build never starts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77D48A-A540-EB71-FDF5-EC134F9C9CA8}"/>
              </a:ext>
            </a:extLst>
          </p:cNvPr>
          <p:cNvCxnSpPr>
            <a:cxnSpLocks/>
          </p:cNvCxnSpPr>
          <p:nvPr/>
        </p:nvCxnSpPr>
        <p:spPr>
          <a:xfrm flipV="1">
            <a:off x="5608595" y="3082324"/>
            <a:ext cx="645297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40390A-E1FF-8118-D5B0-7AD9EC6B4988}"/>
              </a:ext>
            </a:extLst>
          </p:cNvPr>
          <p:cNvCxnSpPr>
            <a:cxnSpLocks/>
          </p:cNvCxnSpPr>
          <p:nvPr/>
        </p:nvCxnSpPr>
        <p:spPr>
          <a:xfrm flipV="1">
            <a:off x="8649730" y="3089188"/>
            <a:ext cx="926756" cy="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0B3CE2CE-B3C5-D3BC-E34E-F2C2872F3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8314" y="2539313"/>
            <a:ext cx="413265" cy="42699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6B3BCB-56F6-D4AB-0696-8177B210B20F}"/>
              </a:ext>
            </a:extLst>
          </p:cNvPr>
          <p:cNvSpPr/>
          <p:nvPr/>
        </p:nvSpPr>
        <p:spPr>
          <a:xfrm>
            <a:off x="7831163" y="4247154"/>
            <a:ext cx="3093856" cy="1482810"/>
          </a:xfrm>
          <a:prstGeom prst="roundRect">
            <a:avLst/>
          </a:prstGeom>
          <a:solidFill>
            <a:srgbClr val="872DE0">
              <a:alpha val="26000"/>
            </a:srgbClr>
          </a:solidFill>
          <a:ln>
            <a:solidFill>
              <a:srgbClr val="8B5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rgbClr val="8B50E9"/>
                </a:solidFill>
              </a:rPr>
              <a:t>Out of a task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49000"/>
                  </a:schemeClr>
                </a:solidFill>
              </a:rPr>
              <a:t>fails here : </a:t>
            </a:r>
            <a:br>
              <a:rPr lang="en-US" dirty="0">
                <a:solidFill>
                  <a:schemeClr val="bg1">
                    <a:lumMod val="49000"/>
                  </a:schemeClr>
                </a:solidFill>
              </a:rPr>
            </a:br>
            <a:r>
              <a:rPr lang="en-US" dirty="0">
                <a:solidFill>
                  <a:schemeClr val="tx1"/>
                </a:solidFill>
                <a:latin typeface="Miriam Fixed"/>
                <a:cs typeface="Miriam Fixed"/>
              </a:rPr>
              <a:t>return ​</a:t>
            </a:r>
            <a:r>
              <a:rPr lang="en-US" dirty="0">
                <a:solidFill>
                  <a:schemeClr val="tx1"/>
                </a:solidFill>
                <a:latin typeface="Miriam Fixed"/>
                <a:ea typeface="+mn-lt"/>
                <a:cs typeface="Miriam Fixed"/>
              </a:rPr>
              <a:t>{"</a:t>
            </a:r>
            <a:r>
              <a:rPr lang="en-US" dirty="0" err="1">
                <a:solidFill>
                  <a:schemeClr val="tx1"/>
                </a:solidFill>
                <a:latin typeface="Miriam Fixed"/>
                <a:ea typeface="+mn-lt"/>
                <a:cs typeface="Miriam Fixed"/>
              </a:rPr>
              <a:t>model":m</a:t>
            </a:r>
            <a:r>
              <a:rPr lang="en-US" dirty="0">
                <a:solidFill>
                  <a:schemeClr val="tx1"/>
                </a:solidFill>
                <a:latin typeface="Miriam Fixed"/>
                <a:ea typeface="+mn-lt"/>
                <a:cs typeface="Miriam Fixed"/>
              </a:rPr>
              <a:t>}</a:t>
            </a:r>
          </a:p>
          <a:p>
            <a:r>
              <a:rPr lang="en-US" sz="1600" b="1" dirty="0">
                <a:solidFill>
                  <a:srgbClr val="872DE0"/>
                </a:solidFill>
              </a:rPr>
              <a:t>Build's time is lost, describe is protected</a:t>
            </a:r>
            <a:endParaRPr lang="en-US">
              <a:solidFill>
                <a:srgbClr val="872DE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69FBDC-1589-986B-7CCD-A6E42955BA0A}"/>
              </a:ext>
            </a:extLst>
          </p:cNvPr>
          <p:cNvSpPr/>
          <p:nvPr/>
        </p:nvSpPr>
        <p:spPr>
          <a:xfrm>
            <a:off x="2660307" y="2867626"/>
            <a:ext cx="455655" cy="438149"/>
          </a:xfrm>
          <a:prstGeom prst="ellipse">
            <a:avLst/>
          </a:prstGeom>
          <a:solidFill>
            <a:schemeClr val="bg1"/>
          </a:solidFill>
          <a:ln>
            <a:solidFill>
              <a:srgbClr val="872D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72DE0"/>
                </a:solidFill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10BFEC-0A46-CD75-4248-A9CD0F45A47A}"/>
              </a:ext>
            </a:extLst>
          </p:cNvPr>
          <p:cNvSpPr/>
          <p:nvPr/>
        </p:nvSpPr>
        <p:spPr>
          <a:xfrm>
            <a:off x="5701442" y="2860761"/>
            <a:ext cx="455655" cy="438149"/>
          </a:xfrm>
          <a:prstGeom prst="ellipse">
            <a:avLst/>
          </a:prstGeom>
          <a:solidFill>
            <a:schemeClr val="bg1"/>
          </a:solidFill>
          <a:ln>
            <a:solidFill>
              <a:srgbClr val="872D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872DE0"/>
                </a:solidFill>
              </a:rPr>
              <a:t>2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A94D40-4455-5422-1324-E9922EF7D6E1}"/>
              </a:ext>
            </a:extLst>
          </p:cNvPr>
          <p:cNvSpPr/>
          <p:nvPr/>
        </p:nvSpPr>
        <p:spPr>
          <a:xfrm>
            <a:off x="8886739" y="2840166"/>
            <a:ext cx="455655" cy="438149"/>
          </a:xfrm>
          <a:prstGeom prst="ellipse">
            <a:avLst/>
          </a:prstGeom>
          <a:solidFill>
            <a:schemeClr val="bg1"/>
          </a:solidFill>
          <a:ln>
            <a:solidFill>
              <a:srgbClr val="872D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872DE0"/>
                </a:solidFill>
              </a:rPr>
              <a:t>3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CDAE60-5528-E91A-F25A-F0BA069C2296}"/>
              </a:ext>
            </a:extLst>
          </p:cNvPr>
          <p:cNvCxnSpPr/>
          <p:nvPr/>
        </p:nvCxnSpPr>
        <p:spPr>
          <a:xfrm flipH="1">
            <a:off x="2907785" y="3307836"/>
            <a:ext cx="14758" cy="939800"/>
          </a:xfrm>
          <a:prstGeom prst="straightConnector1">
            <a:avLst/>
          </a:prstGeom>
          <a:ln>
            <a:solidFill>
              <a:srgbClr val="872D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013009-8909-344E-FD81-06CB5881D5DE}"/>
              </a:ext>
            </a:extLst>
          </p:cNvPr>
          <p:cNvCxnSpPr>
            <a:cxnSpLocks/>
          </p:cNvCxnSpPr>
          <p:nvPr/>
        </p:nvCxnSpPr>
        <p:spPr>
          <a:xfrm>
            <a:off x="5936219" y="3300972"/>
            <a:ext cx="47025" cy="946664"/>
          </a:xfrm>
          <a:prstGeom prst="straightConnector1">
            <a:avLst/>
          </a:prstGeom>
          <a:ln>
            <a:solidFill>
              <a:srgbClr val="872D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D4A27E4-52CB-A4BF-04BB-83B200401374}"/>
              </a:ext>
            </a:extLst>
          </p:cNvPr>
          <p:cNvCxnSpPr>
            <a:cxnSpLocks/>
          </p:cNvCxnSpPr>
          <p:nvPr/>
        </p:nvCxnSpPr>
        <p:spPr>
          <a:xfrm flipH="1">
            <a:off x="9106758" y="3307836"/>
            <a:ext cx="14758" cy="939800"/>
          </a:xfrm>
          <a:prstGeom prst="straightConnector1">
            <a:avLst/>
          </a:prstGeom>
          <a:ln>
            <a:solidFill>
              <a:srgbClr val="872D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ous-titre 2">
            <a:extLst>
              <a:ext uri="{FF2B5EF4-FFF2-40B4-BE49-F238E27FC236}">
                <a16:creationId xmlns:a16="http://schemas.microsoft.com/office/drawing/2014/main" id="{DE4695E1-1400-836C-BCD6-CE69E5127FF3}"/>
              </a:ext>
            </a:extLst>
          </p:cNvPr>
          <p:cNvSpPr txBox="1">
            <a:spLocks/>
          </p:cNvSpPr>
          <p:nvPr/>
        </p:nvSpPr>
        <p:spPr>
          <a:xfrm>
            <a:off x="638881" y="6422607"/>
            <a:ext cx="10909643" cy="41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i="1">
                <a:solidFill>
                  <a:srgbClr val="A5A5A5"/>
                </a:solidFill>
              </a:rPr>
              <a:t>302.1-Data infrastructures Topic 9</a:t>
            </a:r>
            <a:endParaRPr lang="en-US" sz="1800" i="1">
              <a:solidFill>
                <a:srgbClr val="A5A5A5"/>
              </a:solidFill>
            </a:endParaRPr>
          </a:p>
          <a:p>
            <a:endParaRPr lang="fr-FR" sz="1800" i="1">
              <a:solidFill>
                <a:srgbClr val="A5A5A5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685E274-7467-9DC5-6A5A-8A2B2D0A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50902" y="6237875"/>
            <a:ext cx="3419475" cy="619125"/>
          </a:xfrm>
          <a:prstGeom prst="rect">
            <a:avLst/>
          </a:prstGeom>
        </p:spPr>
      </p:pic>
      <p:pic>
        <p:nvPicPr>
          <p:cNvPr id="31" name="Picture 30" descr="Introducing Flyte: A Cloud Native Machine Learning and Data Processing  Platform | by Allyson Gale | Lyft Engineering">
            <a:extLst>
              <a:ext uri="{FF2B5EF4-FFF2-40B4-BE49-F238E27FC236}">
                <a16:creationId xmlns:a16="http://schemas.microsoft.com/office/drawing/2014/main" id="{40E7C0E1-CC92-54F9-0670-D1E65F311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4025" y="6179304"/>
            <a:ext cx="1954717" cy="8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94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Thème Office</vt:lpstr>
      <vt:lpstr>Caching and typed interfaces in Flyte</vt:lpstr>
      <vt:lpstr>What is Flyte and what problems does it solve ? </vt:lpstr>
      <vt:lpstr>The problem: re-running work you have already done</vt:lpstr>
      <vt:lpstr>Demo</vt:lpstr>
      <vt:lpstr>What the cache keys on</vt:lpstr>
      <vt:lpstr>Who shares the cache ?</vt:lpstr>
      <vt:lpstr>When the cache lies</vt:lpstr>
      <vt:lpstr>Typed interfaces : what a type hint becomes</vt:lpstr>
      <vt:lpstr>Typed interfaces : Three checkpoints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541</cp:revision>
  <dcterms:created xsi:type="dcterms:W3CDTF">2026-09-23T13:23:37Z</dcterms:created>
  <dcterms:modified xsi:type="dcterms:W3CDTF">2026-09-23T16:16:35Z</dcterms:modified>
</cp:coreProperties>
</file>